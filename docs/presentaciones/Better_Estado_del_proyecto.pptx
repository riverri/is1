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c8a9683e-a4dc-7773-75b3-74e1529f818e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3D2E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0F3D2E"/>
                </a:solidFill>
                <a:latin typeface="+mj-lt"/>
              </a:rPr>
              <a:t>Historias por prioridad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Historias</c:v>
                </c:pt>
              </c:strCache>
            </c:strRef>
          </c:tx>
          <c:spPr>
            <a:solidFill>
              <a:srgbClr val="1F7A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3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· Muy alta</c:v>
                  </c:pt>
                  <c:pt idx="1">
                    <c:v>2 · Alta</c:v>
                  </c:pt>
                  <c:pt idx="2">
                    <c:v>3 · Media</c:v>
                  </c:pt>
                  <c:pt idx="3">
                    <c:v>4 · Baja</c:v>
                  </c:pt>
                  <c:pt idx="4">
                    <c:v>5 · Muy baja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15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423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E6E6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breve, unos dos minutos: la app ya está hecha, hemos actualizado las historias de usuario y estamos buscando ideas para completar el proyecto y seguir desarrollándolo.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aplicación está hecha y funciona. Desde la revisión del Sprint 2 se ha añadido recuperar la contraseña por correo, se han corregido 34 fallos y hay una wiki con toda la documentación. Se apuesta con moneditas virtuales, sin dinero real. Aquí se puede enseñar la web en directo: catálogo, una apuesta, el boleto y el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Hemos repasado las 53 historias del Product Backlog: cada una tiene ahora una prioridad del 1 (muy alta) al 5 (muy baja), y sus criterios de aceptación en formato Dado / Cuando / Entonces, con un identificador que enlaza con su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ideas que hemos dejado en la discusión #74 de GitHub para completar el proyecto y seguir desarrollándolo. Todavía no están elegidas: queremos decidirlas con el Product Owner para el Sprint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elegimos las ideas con el Product Owner y empezamos el Sprint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oculta: no sale al pasar las diapositivas. Usadla solo si en clase no se puede abrir la web. Capturas de la aplicación con datos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93268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Better · Web de apuestas deportivas · IS1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CB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Better · Web de apuestas deportivas · IS1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E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Better · Web de apuestas deportivas · IS1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CB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CB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Better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474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Web de apuestas deportivas · Estado del proyecto y siguientes pasos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Carlos Martín-Salas · Jaime Martín · David Ortega · Jing Li · Carlos Jurado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Product Owner: Gonzalo Rubén Méndez Pozo · Scrum Master: Carlos Jurado</a:t>
            </a:r>
            <a:endParaRPr lang="en-US" sz="1400" dirty="0"/>
          </a:p>
        </p:txBody>
      </p:sp>
      <p:sp>
        <p:nvSpPr>
          <p:cNvPr id="7" name="balón (círculo)"/>
          <p:cNvSpPr/>
          <p:nvPr/>
        </p:nvSpPr>
        <p:spPr>
          <a:xfrm>
            <a:off x="10332720" y="64008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baló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9958" y="947318"/>
            <a:ext cx="665683" cy="665683"/>
          </a:xfrm>
          <a:prstGeom prst="rect">
            <a:avLst/>
          </a:prstGeom>
        </p:spPr>
      </p:pic>
      <p:sp>
        <p:nvSpPr>
          <p:cNvPr id="9" name="fondo QR"/>
          <p:cNvSpPr/>
          <p:nvPr/>
        </p:nvSpPr>
        <p:spPr>
          <a:xfrm>
            <a:off x="9692640" y="3886200"/>
            <a:ext cx="1783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</p:sp>
      <p:pic>
        <p:nvPicPr>
          <p:cNvPr id="10" name="QR de la web" descr="Código QR a https://is1-1.onrender.c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3995928"/>
            <a:ext cx="1563624" cy="1563624"/>
          </a:xfrm>
          <a:prstGeom prst="rect">
            <a:avLst/>
          </a:prstGeom>
        </p:spPr>
      </p:pic>
      <p:sp>
        <p:nvSpPr>
          <p:cNvPr id="11" name="dirección de la web"/>
          <p:cNvSpPr txBox="1"/>
          <p:nvPr/>
        </p:nvSpPr>
        <p:spPr>
          <a:xfrm>
            <a:off x="9144000" y="57424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</a:rPr>
              <a:t>is1-1.onrender.com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 app ya funciona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325880"/>
            <a:ext cx="35152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Cuotas propias (círculo)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Cuotas propi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0809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55448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Cuotas propias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304288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Calidad, forma y lo apostado</a:t>
            </a:r>
            <a:endParaRPr lang="en-US" sz="1400" dirty="0"/>
          </a:p>
        </p:txBody>
      </p:sp>
      <p:sp>
        <p:nvSpPr>
          <p:cNvPr id="9" name="tarjeta"/>
          <p:cNvSpPr/>
          <p:nvPr/>
        </p:nvSpPr>
        <p:spPr>
          <a:xfrm>
            <a:off x="4338218" y="1325880"/>
            <a:ext cx="35152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0" name="Tres tipos de apuesta (círculo)"/>
          <p:cNvSpPr/>
          <p:nvPr/>
        </p:nvSpPr>
        <p:spPr>
          <a:xfrm>
            <a:off x="4612538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Tres tipos de apuest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170809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35498" y="155448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Tres tipos de apuesta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612538" y="2304288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Simple, combinada, largo plazo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8127797" y="1325880"/>
            <a:ext cx="35152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5" name="Partidos reales (círculo)"/>
          <p:cNvSpPr/>
          <p:nvPr/>
        </p:nvSpPr>
        <p:spPr>
          <a:xfrm>
            <a:off x="8402117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Partidos real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170809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25077" y="155448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Partidos reales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402117" y="2304288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Partidos y resultados reales</a:t>
            </a:r>
            <a:endParaRPr lang="en-US" sz="1400" dirty="0"/>
          </a:p>
        </p:txBody>
      </p:sp>
      <p:sp>
        <p:nvSpPr>
          <p:cNvPr id="19" name="tarjeta"/>
          <p:cNvSpPr/>
          <p:nvPr/>
        </p:nvSpPr>
        <p:spPr>
          <a:xfrm>
            <a:off x="548640" y="2971800"/>
            <a:ext cx="35152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0" name="Ranking y ligas (círculo)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Ranking y liga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335401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45920" y="320040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Ranking y ligas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3950208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Ranking general y ligas privadas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4338218" y="2971800"/>
            <a:ext cx="35152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5" name="Estadísticas (círculo)"/>
          <p:cNvSpPr/>
          <p:nvPr/>
        </p:nvSpPr>
        <p:spPr>
          <a:xfrm>
            <a:off x="4612538" y="3200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Estadística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158" y="3354019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35498" y="320040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Estadísticas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612538" y="3950208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Ficha de cada equipo</a:t>
            </a:r>
            <a:endParaRPr lang="en-US" sz="1400" dirty="0"/>
          </a:p>
        </p:txBody>
      </p:sp>
      <p:sp>
        <p:nvSpPr>
          <p:cNvPr id="29" name="tarjeta"/>
          <p:cNvSpPr/>
          <p:nvPr/>
        </p:nvSpPr>
        <p:spPr>
          <a:xfrm>
            <a:off x="8127797" y="2971800"/>
            <a:ext cx="35152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0" name="Panel del creador (círculo)"/>
          <p:cNvSpPr/>
          <p:nvPr/>
        </p:nvSpPr>
        <p:spPr>
          <a:xfrm>
            <a:off x="8402117" y="3200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Panel del creador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736" y="3354019"/>
            <a:ext cx="332842" cy="33284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225077" y="320040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Panel del creador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8402117" y="3950208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Eventos, resultados y límites</a:t>
            </a:r>
            <a:endParaRPr lang="en-US" sz="1400" dirty="0"/>
          </a:p>
        </p:txBody>
      </p:sp>
      <p:sp>
        <p:nvSpPr>
          <p:cNvPr id="34" name="cifras"/>
          <p:cNvSpPr/>
          <p:nvPr/>
        </p:nvSpPr>
        <p:spPr>
          <a:xfrm>
            <a:off x="548640" y="4526280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914400" y="45262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45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 historias hechas    ·    </a:t>
            </a:r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276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 pruebas automáticas    ·    </a:t>
            </a:r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En Internet: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is1-1.onrender.com</a:t>
            </a:r>
            <a:endParaRPr lang="en-US" sz="1700" dirty="0"/>
          </a:p>
        </p:txBody>
      </p:sp>
      <p:sp>
        <p:nvSpPr>
          <p:cNvPr id="36" name="novedades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37" name="Text 28"/>
          <p:cNvSpPr txBox="1"/>
          <p:nvPr/>
        </p:nvSpPr>
        <p:spPr>
          <a:xfrm>
            <a:off x="914400" y="53492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Desde la última revisión: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recuperar la contraseña  ·  34 fallos corregidos  ·  nueva wiki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E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Historias de usuario actualizadas</a:t>
            </a:r>
            <a:endParaRPr lang="en-US" sz="3400" dirty="0"/>
          </a:p>
        </p:txBody>
      </p:sp>
      <p:sp>
        <p:nvSpPr>
          <p:cNvPr id="4" name="resumen"/>
          <p:cNvSpPr/>
          <p:nvPr/>
        </p:nvSpPr>
        <p:spPr>
          <a:xfrm>
            <a:off x="548640" y="1371600"/>
            <a:ext cx="3931920" cy="466344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1645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788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historias revisadas y priorizadas a mano, del 1 (muy alta) al 5 (muy baja)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107 criterios de aceptación: Dado / Cuando / Entonces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Cada criterio enlazado con su prueba</a:t>
            </a:r>
            <a:endParaRPr lang="en-US" sz="1500" dirty="0"/>
          </a:p>
        </p:txBody>
      </p:sp>
      <p:graphicFrame>
        <p:nvGraphicFramePr>
          <p:cNvPr id="8" name="historias por prioridad" descr=""/>
          <p:cNvGraphicFramePr/>
          <p:nvPr/>
        </p:nvGraphicFramePr>
        <p:xfrm>
          <a:off x="4846320" y="1371600"/>
          <a:ext cx="6796735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E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Ideas que hemos propuesto</a:t>
            </a:r>
            <a:endParaRPr lang="en-US" sz="3400" dirty="0"/>
          </a:p>
        </p:txBody>
      </p:sp>
      <p:sp>
        <p:nvSpPr>
          <p:cNvPr id="4" name="Nuevas formas de jugar"/>
          <p:cNvSpPr/>
          <p:nvPr/>
        </p:nvSpPr>
        <p:spPr>
          <a:xfrm>
            <a:off x="548640" y="1371600"/>
            <a:ext cx="3515258" cy="361188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5" name="Nuevas formas de jugar (círculo)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Nuevas formas de jug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79953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64592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Nuevas formas de jugar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560320"/>
            <a:ext cx="287517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Quiniela semanal y ligas fantasy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Apuestas en directo con cash-out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Casino: blackjack, póker, ruleta…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Mercados tipo Polymarket</a:t>
            </a:r>
            <a:endParaRPr lang="en-US" sz="1500" dirty="0"/>
          </a:p>
        </p:txBody>
      </p:sp>
      <p:sp>
        <p:nvSpPr>
          <p:cNvPr id="9" name="Motivos para volver"/>
          <p:cNvSpPr/>
          <p:nvPr/>
        </p:nvSpPr>
        <p:spPr>
          <a:xfrm>
            <a:off x="4338218" y="1371600"/>
            <a:ext cx="3515258" cy="361188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10" name="Motivos para volver (círculo)"/>
          <p:cNvSpPr/>
          <p:nvPr/>
        </p:nvSpPr>
        <p:spPr>
          <a:xfrm>
            <a:off x="4658258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Motivos para volv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878" y="179953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1218" y="164592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Motivos para volver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658258" y="2560320"/>
            <a:ext cx="287517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Amigos y rankings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Niveles, logros y misiones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Una apuesta creativa y novedosa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Más deportes</a:t>
            </a:r>
            <a:endParaRPr lang="en-US" sz="1500" dirty="0"/>
          </a:p>
        </p:txBody>
      </p:sp>
      <p:sp>
        <p:nvSpPr>
          <p:cNvPr id="14" name="Ayuda y gestión"/>
          <p:cNvSpPr/>
          <p:nvPr/>
        </p:nvSpPr>
        <p:spPr>
          <a:xfrm>
            <a:off x="8127797" y="1371600"/>
            <a:ext cx="3515258" cy="361188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15" name="Ayuda y gestión (círculo)"/>
          <p:cNvSpPr/>
          <p:nvPr/>
        </p:nvSpPr>
        <p:spPr>
          <a:xfrm>
            <a:off x="8447837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Ayuda y gestió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456" y="179953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70797" y="164592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Ayuda y gestión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447837" y="2560320"/>
            <a:ext cx="287517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Tutorial de bienvenida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Preguntas frecuentes automáticas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Riesgo de la casa y moderadores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Anuncios de otras secciones</a:t>
            </a:r>
            <a:endParaRPr lang="en-US" sz="1500" dirty="0"/>
          </a:p>
        </p:txBody>
      </p:sp>
      <p:sp>
        <p:nvSpPr>
          <p:cNvPr id="19" name="discusión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914400" y="52578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Están en la discusión #74 del repositorio.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Las elegimos con el Product Owner.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E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Siguientes pasos</a:t>
            </a:r>
            <a:endParaRPr lang="en-US" sz="3400" dirty="0"/>
          </a:p>
        </p:txBody>
      </p:sp>
      <p:sp>
        <p:nvSpPr>
          <p:cNvPr id="4" name="Elegir las ideas"/>
          <p:cNvSpPr/>
          <p:nvPr/>
        </p:nvSpPr>
        <p:spPr>
          <a:xfrm>
            <a:off x="548640" y="1463040"/>
            <a:ext cx="3515258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5" name="número 1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número 1 (texto)"/>
          <p:cNvSpPr txBox="1"/>
          <p:nvPr/>
        </p:nvSpPr>
        <p:spPr>
          <a:xfrm>
            <a:off x="8686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974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Elegir las ideas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0040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Con el Product Owner, esta semana</a:t>
            </a:r>
            <a:endParaRPr lang="en-US" sz="1500" dirty="0"/>
          </a:p>
        </p:txBody>
      </p:sp>
      <p:sp>
        <p:nvSpPr>
          <p:cNvPr id="9" name="Escribir historias"/>
          <p:cNvSpPr/>
          <p:nvPr/>
        </p:nvSpPr>
        <p:spPr>
          <a:xfrm>
            <a:off x="4338218" y="1463040"/>
            <a:ext cx="3515258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10" name="número 2"/>
          <p:cNvSpPr/>
          <p:nvPr/>
        </p:nvSpPr>
        <p:spPr>
          <a:xfrm>
            <a:off x="4658258" y="17830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número 2 (texto)"/>
          <p:cNvSpPr txBox="1"/>
          <p:nvPr/>
        </p:nvSpPr>
        <p:spPr>
          <a:xfrm>
            <a:off x="465825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658258" y="26974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Escribir historias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658258" y="320040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Con prioridad y criterios de aceptación</a:t>
            </a:r>
            <a:endParaRPr lang="en-US" sz="1500" dirty="0"/>
          </a:p>
        </p:txBody>
      </p:sp>
      <p:sp>
        <p:nvSpPr>
          <p:cNvPr id="14" name="Sprint 3"/>
          <p:cNvSpPr/>
          <p:nvPr/>
        </p:nvSpPr>
        <p:spPr>
          <a:xfrm>
            <a:off x="8127797" y="1463040"/>
            <a:ext cx="3515258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15" name="número 3"/>
          <p:cNvSpPr/>
          <p:nvPr/>
        </p:nvSpPr>
        <p:spPr>
          <a:xfrm>
            <a:off x="8447837" y="17830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número 3 (texto)"/>
          <p:cNvSpPr txBox="1"/>
          <p:nvPr/>
        </p:nvSpPr>
        <p:spPr>
          <a:xfrm>
            <a:off x="8447837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447837" y="26974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Sprint 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447837" y="320040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Del 19/10 al 30/10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572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¿Preguntas?</a:t>
            </a:r>
            <a:endParaRPr lang="en-US" sz="4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Pruébala desde el móvil</a:t>
            </a:r>
            <a:endParaRPr lang="en-US" sz="1600" dirty="0"/>
          </a:p>
        </p:txBody>
      </p:sp>
      <p:sp>
        <p:nvSpPr>
          <p:cNvPr id="21" name="fondo QR"/>
          <p:cNvSpPr/>
          <p:nvPr/>
        </p:nvSpPr>
        <p:spPr>
          <a:xfrm>
            <a:off x="9692640" y="4069080"/>
            <a:ext cx="1783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</p:sp>
      <p:pic>
        <p:nvPicPr>
          <p:cNvPr id="22" name="QR de la web" descr="Código QR a https://is1-1.onrender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4178808"/>
            <a:ext cx="1563624" cy="1563624"/>
          </a:xfrm>
          <a:prstGeom prst="rect">
            <a:avLst/>
          </a:prstGeom>
        </p:spPr>
      </p:pic>
      <p:sp>
        <p:nvSpPr>
          <p:cNvPr id="23" name="dirección de la web"/>
          <p:cNvSpPr txBox="1"/>
          <p:nvPr/>
        </p:nvSpPr>
        <p:spPr>
          <a:xfrm>
            <a:off x="9144000" y="59253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</a:rPr>
              <a:t>is1-1.onrender.com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CB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 web, por si no carga en directo</a:t>
            </a:r>
            <a:endParaRPr lang="en-US" sz="3400" dirty="0"/>
          </a:p>
        </p:txBody>
      </p:sp>
      <p:pic>
        <p:nvPicPr>
          <p:cNvPr id="4" name="Catálogo con las cuotas de cada partido" descr="/tmp/claude-0/-home-user-IS1/f30123b4-654d-5342-9150-989f27a556db/scratchpad/capturas/1-cata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566160" cy="2228850"/>
          </a:xfrm>
          <a:prstGeom prst="rect">
            <a:avLst/>
          </a:prstGeom>
        </p:spPr>
      </p:pic>
      <p:sp>
        <p:nvSpPr>
          <p:cNvPr id="5" name="marco Catálogo con las cuotas de cada partido"/>
          <p:cNvSpPr/>
          <p:nvPr/>
        </p:nvSpPr>
        <p:spPr>
          <a:xfrm>
            <a:off x="548640" y="1325880"/>
            <a:ext cx="3566160" cy="2228850"/>
          </a:xfrm>
          <a:prstGeom prst="rect">
            <a:avLst/>
          </a:prstGeom>
          <a:ln w="12700">
            <a:solidFill>
              <a:srgbClr val="EDF3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297680" y="1417320"/>
            <a:ext cx="1691640" cy="204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Catálogo con las cuotas de cada partido</a:t>
            </a:r>
            <a:endParaRPr lang="en-US" sz="1500" dirty="0"/>
          </a:p>
        </p:txBody>
      </p:sp>
      <p:pic>
        <p:nvPicPr>
          <p:cNvPr id="7" name="Apostar: elegir pronóstico e importe" descr="/tmp/claude-0/-home-user-IS1/f30123b4-654d-5342-9150-989f27a556db/scratchpad/capturas/2-ev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75" y="1325880"/>
            <a:ext cx="3566160" cy="2228850"/>
          </a:xfrm>
          <a:prstGeom prst="rect">
            <a:avLst/>
          </a:prstGeom>
        </p:spPr>
      </p:pic>
      <p:sp>
        <p:nvSpPr>
          <p:cNvPr id="8" name="marco Apostar: elegir pronóstico e importe"/>
          <p:cNvSpPr/>
          <p:nvPr/>
        </p:nvSpPr>
        <p:spPr>
          <a:xfrm>
            <a:off x="6202375" y="1325880"/>
            <a:ext cx="3566160" cy="2228850"/>
          </a:xfrm>
          <a:prstGeom prst="rect">
            <a:avLst/>
          </a:prstGeom>
          <a:ln w="12700">
            <a:solidFill>
              <a:srgbClr val="EDF3E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9951415" y="1417320"/>
            <a:ext cx="1691640" cy="204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Apostar: elegir pronóstico e importe</a:t>
            </a:r>
            <a:endParaRPr lang="en-US" sz="1500" dirty="0"/>
          </a:p>
        </p:txBody>
      </p:sp>
      <p:pic>
        <p:nvPicPr>
          <p:cNvPr id="10" name="Boleto para hacer combinadas" descr="/tmp/claude-0/-home-user-IS1/f30123b4-654d-5342-9150-989f27a556db/scratchpad/capturas/3-bole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29050"/>
            <a:ext cx="3566160" cy="2228850"/>
          </a:xfrm>
          <a:prstGeom prst="rect">
            <a:avLst/>
          </a:prstGeom>
        </p:spPr>
      </p:pic>
      <p:sp>
        <p:nvSpPr>
          <p:cNvPr id="11" name="marco Boleto para hacer combinadas"/>
          <p:cNvSpPr/>
          <p:nvPr/>
        </p:nvSpPr>
        <p:spPr>
          <a:xfrm>
            <a:off x="548640" y="3829050"/>
            <a:ext cx="3566160" cy="2228850"/>
          </a:xfrm>
          <a:prstGeom prst="rect">
            <a:avLst/>
          </a:prstGeom>
          <a:ln w="12700">
            <a:solidFill>
              <a:srgbClr val="EDF3EF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4297680" y="3920490"/>
            <a:ext cx="1691640" cy="204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Boleto para hacer combinadas</a:t>
            </a:r>
            <a:endParaRPr lang="en-US" sz="1500" dirty="0"/>
          </a:p>
        </p:txBody>
      </p:sp>
      <p:pic>
        <p:nvPicPr>
          <p:cNvPr id="13" name="Mis apuestas y lo que se puede ganar" descr="/tmp/claude-0/-home-user-IS1/f30123b4-654d-5342-9150-989f27a556db/scratchpad/capturas/5-apuest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375" y="3829050"/>
            <a:ext cx="3566160" cy="2228850"/>
          </a:xfrm>
          <a:prstGeom prst="rect">
            <a:avLst/>
          </a:prstGeom>
        </p:spPr>
      </p:pic>
      <p:sp>
        <p:nvSpPr>
          <p:cNvPr id="14" name="marco Mis apuestas y lo que se puede ganar"/>
          <p:cNvSpPr/>
          <p:nvPr/>
        </p:nvSpPr>
        <p:spPr>
          <a:xfrm>
            <a:off x="6202375" y="3829050"/>
            <a:ext cx="3566160" cy="2228850"/>
          </a:xfrm>
          <a:prstGeom prst="rect">
            <a:avLst/>
          </a:prstGeom>
          <a:ln w="12700">
            <a:solidFill>
              <a:srgbClr val="EDF3EF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951415" y="3920490"/>
            <a:ext cx="1691640" cy="204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Mis apuestas y lo que se puede ganar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E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">
  <a:themeElements>
    <a:clrScheme name="Better">
      <a:dk1>
        <a:srgbClr val="14231D"/>
      </a:dk1>
      <a:lt1>
        <a:srgbClr val="FFFFFF"/>
      </a:lt1>
      <a:dk2>
        <a:srgbClr val="0F3D2E"/>
      </a:dk2>
      <a:lt2>
        <a:srgbClr val="EDF3EF"/>
      </a:lt2>
      <a:accent1>
        <a:srgbClr val="1F7A55"/>
      </a:accent1>
      <a:accent2>
        <a:srgbClr val="F2B134"/>
      </a:accent2>
      <a:accent3>
        <a:srgbClr val="4E8FBF"/>
      </a:accent3>
      <a:accent4>
        <a:srgbClr val="C8553D"/>
      </a:accent4>
      <a:accent5>
        <a:srgbClr val="9CCBB0"/>
      </a:accent5>
      <a:accent6>
        <a:srgbClr val="5E6E67"/>
      </a:accent6>
      <a:hlink>
        <a:srgbClr val="1F7A55"/>
      </a:hlink>
      <a:folHlink>
        <a:srgbClr val="5E6E67"/>
      </a:folHlink>
    </a:clrScheme>
    <a:fontScheme name="Bett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Better · Estado del proyecto</dc:title>
  <dc:subject>Presentación breve del Sprint 3</dc:subject>
  <dc:creator>Equipo IS1</dc:creator>
  <cp:lastModifiedBy>Equipo IS1</cp:lastModifiedBy>
  <cp:revision>1</cp:revision>
  <dcterms:created xsi:type="dcterms:W3CDTF">2026-10-19T16:47:19Z</dcterms:created>
  <dcterms:modified xsi:type="dcterms:W3CDTF">2026-10-19T16:47:19Z</dcterms:modified>
</cp:coreProperties>
</file>